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IN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8637DA-18BD-4AB7-B135-715C26AE19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endParaRPr lang="en-IN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10000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Aft>
                <a:spcPts val="1060"/>
              </a:spcAft>
              <a:buNone/>
            </a:pP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1620000" y="3085560"/>
            <a:ext cx="810000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Aft>
                <a:spcPts val="1060"/>
              </a:spcAft>
              <a:buNone/>
            </a:pP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F8AC5D-5E32-434E-9BEA-2B408AA52E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en-IN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33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IN" sz="33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  <a:def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1pPr>
            <a:lvl2pPr lvl="1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  <a:defRPr lang="en-IN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2pPr>
            <a:lvl3pPr lvl="2" algn="l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  <a:defRPr lang="en-IN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3pPr>
            <a:lvl4pPr lvl="3" algn="l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  <a:defRPr lang="en-IN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4pPr>
            <a:lvl5pPr lvl="4" algn="l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  <a:defRPr lang="en-IN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5pPr>
            <a:lvl6pPr lvl="5" algn="l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  <a:defRPr lang="en-IN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6pPr>
            <a:lvl7pPr lvl="6" algn="l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  <a:defRPr lang="en-IN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1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Second Outline Level</a:t>
            </a:r>
            <a:endParaRPr lang="en-IN" sz="21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296000" lvl="2" indent="-288000" algn="l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18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Third Outline Level</a:t>
            </a:r>
            <a:endParaRPr lang="en-IN" sz="18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1728000" lvl="3" indent="-216000" algn="l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Fourth Outline Level</a:t>
            </a:r>
            <a:endParaRPr lang="en-IN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160000" lvl="4" indent="-216000" algn="l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Fifth Outline Level</a:t>
            </a:r>
            <a:endParaRPr lang="en-IN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2592000" lvl="5" indent="-216000" algn="l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Sixth Outline Level</a:t>
            </a:r>
            <a:endParaRPr lang="en-IN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3024000" lvl="6" indent="-216000" algn="l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15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Seventh Outline Level</a:t>
            </a:r>
            <a:endParaRPr lang="en-IN" sz="15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45B3D5E-52E7-4AE8-BD65-1F850FF89AF8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60000" y="36000"/>
            <a:ext cx="1080000" cy="5796000"/>
            <a:chOff x="360000" y="36000"/>
            <a:chExt cx="1080000" cy="5796000"/>
          </a:xfrm>
        </p:grpSpPr>
        <p:cxnSp>
          <p:nvCxnSpPr>
            <p:cNvPr id="8" name=""/>
            <p:cNvCxnSpPr>
              <a:stCxn id="9" idx="6"/>
              <a:endCxn id="10" idx="2"/>
            </p:cNvCxnSpPr>
            <p:nvPr/>
          </p:nvCxnSpPr>
          <p:spPr>
            <a:xfrm>
              <a:off x="626040" y="12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" name=""/>
            <p:cNvCxnSpPr>
              <a:stCxn id="12" idx="6"/>
              <a:endCxn id="13" idx="2"/>
            </p:cNvCxnSpPr>
            <p:nvPr/>
          </p:nvCxnSpPr>
          <p:spPr>
            <a:xfrm>
              <a:off x="540000" y="3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4" name=""/>
            <p:cNvCxnSpPr>
              <a:stCxn id="15" idx="6"/>
              <a:endCxn id="16" idx="2"/>
            </p:cNvCxnSpPr>
            <p:nvPr/>
          </p:nvCxnSpPr>
          <p:spPr>
            <a:xfrm>
              <a:off x="626040" y="55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7" name=""/>
            <p:cNvCxnSpPr>
              <a:stCxn id="18" idx="6"/>
              <a:endCxn id="19" idx="2"/>
            </p:cNvCxnSpPr>
            <p:nvPr/>
          </p:nvCxnSpPr>
          <p:spPr>
            <a:xfrm>
              <a:off x="851040" y="77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0" name=""/>
            <p:cNvCxnSpPr>
              <a:stCxn id="21" idx="6"/>
              <a:endCxn id="22" idx="2"/>
            </p:cNvCxnSpPr>
            <p:nvPr/>
          </p:nvCxnSpPr>
          <p:spPr>
            <a:xfrm>
              <a:off x="851040" y="99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3" name=""/>
            <p:cNvCxnSpPr>
              <a:stCxn id="24" idx="6"/>
              <a:endCxn id="25" idx="2"/>
            </p:cNvCxnSpPr>
            <p:nvPr/>
          </p:nvCxnSpPr>
          <p:spPr>
            <a:xfrm rot="10800000">
              <a:off x="626040" y="120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6" name=""/>
            <p:cNvCxnSpPr>
              <a:stCxn id="27" idx="6"/>
              <a:endCxn id="28" idx="2"/>
            </p:cNvCxnSpPr>
            <p:nvPr/>
          </p:nvCxnSpPr>
          <p:spPr>
            <a:xfrm rot="10800000">
              <a:off x="540000" y="142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9" name=""/>
            <p:cNvCxnSpPr>
              <a:stCxn id="30" idx="6"/>
              <a:endCxn id="31" idx="2"/>
            </p:cNvCxnSpPr>
            <p:nvPr/>
          </p:nvCxnSpPr>
          <p:spPr>
            <a:xfrm rot="10800000">
              <a:off x="626040" y="163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2" name=""/>
            <p:cNvCxnSpPr>
              <a:stCxn id="33" idx="6"/>
              <a:endCxn id="34" idx="2"/>
            </p:cNvCxnSpPr>
            <p:nvPr/>
          </p:nvCxnSpPr>
          <p:spPr>
            <a:xfrm rot="10800000">
              <a:off x="851040" y="185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5" name=""/>
            <p:cNvCxnSpPr>
              <a:stCxn id="36" idx="6"/>
              <a:endCxn id="37" idx="2"/>
            </p:cNvCxnSpPr>
            <p:nvPr/>
          </p:nvCxnSpPr>
          <p:spPr>
            <a:xfrm rot="10800000">
              <a:off x="851040" y="207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8" name=""/>
            <p:cNvCxnSpPr>
              <a:stCxn id="39" idx="6"/>
              <a:endCxn id="40" idx="2"/>
            </p:cNvCxnSpPr>
            <p:nvPr/>
          </p:nvCxnSpPr>
          <p:spPr>
            <a:xfrm>
              <a:off x="626040" y="228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1" name=""/>
            <p:cNvCxnSpPr>
              <a:stCxn id="42" idx="6"/>
              <a:endCxn id="43" idx="2"/>
            </p:cNvCxnSpPr>
            <p:nvPr/>
          </p:nvCxnSpPr>
          <p:spPr>
            <a:xfrm>
              <a:off x="540000" y="250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4" name=""/>
            <p:cNvCxnSpPr>
              <a:stCxn id="45" idx="6"/>
              <a:endCxn id="46" idx="2"/>
            </p:cNvCxnSpPr>
            <p:nvPr/>
          </p:nvCxnSpPr>
          <p:spPr>
            <a:xfrm>
              <a:off x="626040" y="271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7" name=""/>
            <p:cNvCxnSpPr>
              <a:stCxn id="48" idx="6"/>
              <a:endCxn id="49" idx="2"/>
            </p:cNvCxnSpPr>
            <p:nvPr/>
          </p:nvCxnSpPr>
          <p:spPr>
            <a:xfrm>
              <a:off x="851040" y="293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0" name=""/>
            <p:cNvCxnSpPr>
              <a:stCxn id="51" idx="6"/>
              <a:endCxn id="52" idx="2"/>
            </p:cNvCxnSpPr>
            <p:nvPr/>
          </p:nvCxnSpPr>
          <p:spPr>
            <a:xfrm>
              <a:off x="851040" y="315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3" name=""/>
            <p:cNvCxnSpPr>
              <a:stCxn id="54" idx="6"/>
              <a:endCxn id="55" idx="2"/>
            </p:cNvCxnSpPr>
            <p:nvPr/>
          </p:nvCxnSpPr>
          <p:spPr>
            <a:xfrm rot="10800000">
              <a:off x="626040" y="336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6" name=""/>
            <p:cNvCxnSpPr>
              <a:stCxn id="57" idx="6"/>
              <a:endCxn id="58" idx="2"/>
            </p:cNvCxnSpPr>
            <p:nvPr/>
          </p:nvCxnSpPr>
          <p:spPr>
            <a:xfrm rot="10800000">
              <a:off x="540000" y="358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9" name=""/>
            <p:cNvCxnSpPr>
              <a:stCxn id="60" idx="6"/>
              <a:endCxn id="61" idx="2"/>
            </p:cNvCxnSpPr>
            <p:nvPr/>
          </p:nvCxnSpPr>
          <p:spPr>
            <a:xfrm rot="10800000">
              <a:off x="626040" y="3798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2" name=""/>
            <p:cNvCxnSpPr>
              <a:stCxn id="63" idx="6"/>
              <a:endCxn id="64" idx="2"/>
            </p:cNvCxnSpPr>
            <p:nvPr/>
          </p:nvCxnSpPr>
          <p:spPr>
            <a:xfrm rot="10800000">
              <a:off x="851040" y="4014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5" name=""/>
            <p:cNvCxnSpPr>
              <a:stCxn id="66" idx="6"/>
              <a:endCxn id="67" idx="2"/>
            </p:cNvCxnSpPr>
            <p:nvPr/>
          </p:nvCxnSpPr>
          <p:spPr>
            <a:xfrm rot="10800000">
              <a:off x="851040" y="4230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8" name=""/>
            <p:cNvCxnSpPr>
              <a:stCxn id="69" idx="6"/>
              <a:endCxn id="70" idx="2"/>
            </p:cNvCxnSpPr>
            <p:nvPr/>
          </p:nvCxnSpPr>
          <p:spPr>
            <a:xfrm>
              <a:off x="626040" y="4446000"/>
              <a:ext cx="548280" cy="360"/>
            </a:xfrm>
            <a:prstGeom prst="bentConnector3">
              <a:avLst>
                <a:gd name="adj1" fmla="val 1800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1" name=""/>
            <p:cNvCxnSpPr>
              <a:stCxn id="72" idx="6"/>
              <a:endCxn id="73" idx="2"/>
            </p:cNvCxnSpPr>
            <p:nvPr/>
          </p:nvCxnSpPr>
          <p:spPr>
            <a:xfrm>
              <a:off x="540000" y="466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4" name=""/>
            <p:cNvCxnSpPr>
              <a:stCxn id="75" idx="6"/>
              <a:endCxn id="76" idx="2"/>
            </p:cNvCxnSpPr>
            <p:nvPr/>
          </p:nvCxnSpPr>
          <p:spPr>
            <a:xfrm>
              <a:off x="626040" y="4878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7" name=""/>
            <p:cNvCxnSpPr>
              <a:stCxn id="78" idx="6"/>
              <a:endCxn id="79" idx="2"/>
            </p:cNvCxnSpPr>
            <p:nvPr/>
          </p:nvCxnSpPr>
          <p:spPr>
            <a:xfrm>
              <a:off x="851040" y="5094000"/>
              <a:ext cx="98280" cy="360"/>
            </a:xfrm>
            <a:prstGeom prst="bentConnector3">
              <a:avLst>
                <a:gd name="adj1" fmla="val 103308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80" name=""/>
            <p:cNvCxnSpPr>
              <a:stCxn id="81" idx="6"/>
              <a:endCxn id="82" idx="2"/>
            </p:cNvCxnSpPr>
            <p:nvPr/>
          </p:nvCxnSpPr>
          <p:spPr>
            <a:xfrm>
              <a:off x="851040" y="5310000"/>
              <a:ext cx="98280" cy="360"/>
            </a:xfrm>
            <a:prstGeom prst="bentConnector3">
              <a:avLst>
                <a:gd name="adj1" fmla="val 99632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83" name=""/>
            <p:cNvCxnSpPr>
              <a:stCxn id="84" idx="6"/>
              <a:endCxn id="85" idx="2"/>
            </p:cNvCxnSpPr>
            <p:nvPr/>
          </p:nvCxnSpPr>
          <p:spPr>
            <a:xfrm rot="10800000">
              <a:off x="626040" y="5526000"/>
              <a:ext cx="548280" cy="360"/>
            </a:xfrm>
            <a:prstGeom prst="bentConnector3">
              <a:avLst>
                <a:gd name="adj1" fmla="val 18331"/>
              </a:avLst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86" name=""/>
            <p:cNvCxnSpPr>
              <a:stCxn id="87" idx="6"/>
              <a:endCxn id="88" idx="2"/>
            </p:cNvCxnSpPr>
            <p:nvPr/>
          </p:nvCxnSpPr>
          <p:spPr>
            <a:xfrm rot="10800000">
              <a:off x="540000" y="5742000"/>
              <a:ext cx="720360" cy="360"/>
            </a:xfrm>
            <a:prstGeom prst="bentConnector3">
              <a:avLst>
                <a:gd name="adj1" fmla="val 13800"/>
              </a:avLst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9" name=""/>
            <p:cNvSpPr/>
            <p:nvPr/>
          </p:nvSpPr>
          <p:spPr>
            <a:xfrm>
              <a:off x="446040" y="3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1173960" y="3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360000" y="2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1260000" y="2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446040" y="46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1173960" y="46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671040" y="68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48960" y="68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948960" y="90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671040" y="90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" name=""/>
            <p:cNvSpPr/>
            <p:nvPr/>
          </p:nvSpPr>
          <p:spPr>
            <a:xfrm flipH="1">
              <a:off x="1173960" y="111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" name=""/>
            <p:cNvSpPr/>
            <p:nvPr/>
          </p:nvSpPr>
          <p:spPr>
            <a:xfrm flipH="1">
              <a:off x="446040" y="111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7" name=""/>
            <p:cNvSpPr/>
            <p:nvPr/>
          </p:nvSpPr>
          <p:spPr>
            <a:xfrm flipH="1">
              <a:off x="1260000" y="133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8" name=""/>
            <p:cNvSpPr/>
            <p:nvPr/>
          </p:nvSpPr>
          <p:spPr>
            <a:xfrm flipH="1">
              <a:off x="360000" y="133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0" name=""/>
            <p:cNvSpPr/>
            <p:nvPr/>
          </p:nvSpPr>
          <p:spPr>
            <a:xfrm flipH="1">
              <a:off x="1173960" y="154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1" name=""/>
            <p:cNvSpPr/>
            <p:nvPr/>
          </p:nvSpPr>
          <p:spPr>
            <a:xfrm flipH="1">
              <a:off x="446040" y="154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3" name=""/>
            <p:cNvSpPr/>
            <p:nvPr/>
          </p:nvSpPr>
          <p:spPr>
            <a:xfrm flipH="1">
              <a:off x="948960" y="176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4" name=""/>
            <p:cNvSpPr/>
            <p:nvPr/>
          </p:nvSpPr>
          <p:spPr>
            <a:xfrm flipH="1">
              <a:off x="671040" y="176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7" name=""/>
            <p:cNvSpPr/>
            <p:nvPr/>
          </p:nvSpPr>
          <p:spPr>
            <a:xfrm flipH="1">
              <a:off x="671040" y="198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6" name=""/>
            <p:cNvSpPr/>
            <p:nvPr/>
          </p:nvSpPr>
          <p:spPr>
            <a:xfrm flipH="1">
              <a:off x="948960" y="198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446040" y="219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1173960" y="219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360000" y="241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1260000" y="241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446040" y="262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1173960" y="262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671040" y="284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948960" y="284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948960" y="306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671040" y="306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" name=""/>
            <p:cNvSpPr/>
            <p:nvPr/>
          </p:nvSpPr>
          <p:spPr>
            <a:xfrm flipH="1">
              <a:off x="1173960" y="327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" name=""/>
            <p:cNvSpPr/>
            <p:nvPr/>
          </p:nvSpPr>
          <p:spPr>
            <a:xfrm flipH="1">
              <a:off x="446040" y="327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" name=""/>
            <p:cNvSpPr/>
            <p:nvPr/>
          </p:nvSpPr>
          <p:spPr>
            <a:xfrm flipH="1">
              <a:off x="1260000" y="349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" name=""/>
            <p:cNvSpPr/>
            <p:nvPr/>
          </p:nvSpPr>
          <p:spPr>
            <a:xfrm flipH="1">
              <a:off x="360000" y="349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" name=""/>
            <p:cNvSpPr/>
            <p:nvPr/>
          </p:nvSpPr>
          <p:spPr>
            <a:xfrm flipH="1">
              <a:off x="1173960" y="3708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" name=""/>
            <p:cNvSpPr/>
            <p:nvPr/>
          </p:nvSpPr>
          <p:spPr>
            <a:xfrm flipH="1">
              <a:off x="446040" y="3708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" name=""/>
            <p:cNvSpPr/>
            <p:nvPr/>
          </p:nvSpPr>
          <p:spPr>
            <a:xfrm flipH="1">
              <a:off x="948960" y="3924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" name=""/>
            <p:cNvSpPr/>
            <p:nvPr/>
          </p:nvSpPr>
          <p:spPr>
            <a:xfrm flipH="1">
              <a:off x="671040" y="3924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" name=""/>
            <p:cNvSpPr/>
            <p:nvPr/>
          </p:nvSpPr>
          <p:spPr>
            <a:xfrm flipH="1">
              <a:off x="671040" y="4140000"/>
              <a:ext cx="180000" cy="18000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" name=""/>
            <p:cNvSpPr/>
            <p:nvPr/>
          </p:nvSpPr>
          <p:spPr>
            <a:xfrm flipH="1">
              <a:off x="948960" y="4140000"/>
              <a:ext cx="180000" cy="18000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446040" y="4356000"/>
              <a:ext cx="180000" cy="18000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1173960" y="4356000"/>
              <a:ext cx="180000" cy="18000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360000" y="457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1260000" y="457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446040" y="4788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1173960" y="4788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671040" y="5004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948960" y="5004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948960" y="5220000"/>
              <a:ext cx="180000" cy="18000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tIns="46800" rIns="91800" bIns="468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671040" y="5220000"/>
              <a:ext cx="180000" cy="18000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tIns="43200" rIns="88200" bIns="432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" name=""/>
            <p:cNvSpPr/>
            <p:nvPr/>
          </p:nvSpPr>
          <p:spPr>
            <a:xfrm flipH="1">
              <a:off x="1173960" y="5436000"/>
              <a:ext cx="180000" cy="18000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5" name=""/>
            <p:cNvSpPr/>
            <p:nvPr/>
          </p:nvSpPr>
          <p:spPr>
            <a:xfrm flipH="1">
              <a:off x="446040" y="5436000"/>
              <a:ext cx="180000" cy="18000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tIns="44280" rIns="89280" bIns="4428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7" name=""/>
            <p:cNvSpPr/>
            <p:nvPr/>
          </p:nvSpPr>
          <p:spPr>
            <a:xfrm flipH="1">
              <a:off x="1260000" y="5652000"/>
              <a:ext cx="180000" cy="18000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8" name=""/>
            <p:cNvSpPr/>
            <p:nvPr/>
          </p:nvSpPr>
          <p:spPr>
            <a:xfrm flipH="1">
              <a:off x="360000" y="5652000"/>
              <a:ext cx="180000" cy="18000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noAutofit/>
            </a:bodyPr>
            <a:p>
              <a:endParaRPr lang="en-IN" sz="18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36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Retail Data Analysis Project </a:t>
            </a:r>
            <a:endParaRPr lang="en-IN" sz="36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Mayank Bisht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3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Tools: Python, SQL, Excel </a:t>
            </a:r>
            <a:endParaRPr lang="en-IN" sz="3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20D993-098C-4D46-AFD3-98011FBF0EF3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IN" sz="36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Objective</a:t>
            </a:r>
            <a:endParaRPr lang="en-IN" sz="36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1620000" y="1851840"/>
            <a:ext cx="810000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Analyze customer transaction data</a:t>
            </a:r>
            <a:endParaRPr lang="en-IN" sz="20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 Understand customer spending behavior</a:t>
            </a:r>
            <a:endParaRPr lang="en-IN" sz="20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0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Identify high-value customers </a:t>
            </a:r>
            <a:endParaRPr lang="en-IN" sz="20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160000" y="1800000"/>
            <a:ext cx="1958040" cy="230040"/>
          </a:xfrm>
          <a:prstGeom prst="rect">
            <a:avLst/>
          </a:prstGeom>
          <a:noFill/>
          <a:ln w="18000">
            <a:noFill/>
          </a:ln>
        </p:spPr>
        <p:txBody>
          <a:bodyPr lIns="90000" tIns="45000" rIns="90000" bIns="45000" anchor="t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lang="en-IN" sz="10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948A62-D3AD-49A8-AB32-B2143D12373B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normAutofit/>
          </a:bodyPr>
          <a:p>
            <a:pPr indent="0" algn="ctr">
              <a:buNone/>
            </a:pPr>
            <a:r>
              <a:rPr lang="en-IN" sz="36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Dataset</a:t>
            </a:r>
            <a:endParaRPr lang="en-IN" sz="36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620000" y="1851840"/>
            <a:ext cx="810000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Retail_Data_Response (customer response)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Retail_Data_Transactions (transactions)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1E722B-9467-46C1-A431-B8E5802B1612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IN" sz="36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Tools Used</a:t>
            </a:r>
            <a:endParaRPr lang="en-IN" sz="36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620000" y="1671840"/>
            <a:ext cx="810000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 Python (pandas, matplotlib)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 SQL (SQLite)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 Excel (LibreOffice Calc)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1CA2F4-82D5-4CA9-A674-7CDD4049EA01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buNone/>
            </a:pPr>
            <a:r>
              <a:rPr lang="en-IN" sz="36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Data Cleaning</a:t>
            </a:r>
            <a:endParaRPr lang="en-IN" sz="36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620000" y="1800000"/>
            <a:ext cx="810000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Removed missing values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Converted date column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Cleaned inconsistent data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F09068-1C43-4B00-BDEF-970935DBFB2B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36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Data Preparation </a:t>
            </a:r>
            <a:endParaRPr lang="en-IN" sz="36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620000" y="1671840"/>
            <a:ext cx="810000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Calculated total sales per customer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Counted transactions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Extracted month &amp; year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995D4E-66E9-4B13-950E-EB0163536E72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36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Data Merging </a:t>
            </a:r>
            <a:endParaRPr lang="en-IN" sz="36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620000" y="1671840"/>
            <a:ext cx="810000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Combined response and transaction data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Created final dataset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203019-5120-4D69-A280-9EDE10163721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36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Visualization </a:t>
            </a:r>
            <a:endParaRPr lang="en-IN" sz="36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pic>
        <p:nvPicPr>
          <p:cNvPr id="110" name=""/>
          <p:cNvPicPr/>
          <p:nvPr/>
        </p:nvPicPr>
        <p:blipFill>
          <a:blip r:embed="rId1"/>
          <a:stretch/>
        </p:blipFill>
        <p:spPr>
          <a:xfrm>
            <a:off x="1980000" y="1260000"/>
            <a:ext cx="7560000" cy="396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419F4F-CF4F-41D4-B571-EFAA433B9050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36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Output </a:t>
            </a:r>
            <a:endParaRPr lang="en-IN" sz="36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1620000" y="1620000"/>
            <a:ext cx="810000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Final dataset (CSV)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Excel report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Python script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SQL queries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6CB76D-FD11-440B-A927-E5DDD6319255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36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Conclusion </a:t>
            </a:r>
            <a:endParaRPr lang="en-IN" sz="36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620000" y="1671840"/>
            <a:ext cx="810000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Identified high-value customers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Found customer behavior patterns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  <a:p>
            <a:pPr marL="432000" indent="-324000" algn="l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lang="en-IN" sz="2400" b="0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Data helps business decisions</a:t>
            </a:r>
            <a:endParaRPr lang="en-IN" sz="2400" b="0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C56FEA-34AA-45A7-908B-2E8EDBD572B2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620000" y="1260000"/>
            <a:ext cx="8100000" cy="25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lang="en-IN" sz="48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Thank You</a:t>
            </a:r>
            <a:r>
              <a:rPr lang="en-IN" sz="4000" b="1" u="none" strike="noStrike">
                <a:solidFill>
                  <a:srgbClr val="050505"/>
                </a:solidFill>
                <a:effectLst/>
                <a:uFillTx/>
                <a:latin typeface="Times New Roman"/>
              </a:rPr>
              <a:t> </a:t>
            </a:r>
            <a:endParaRPr lang="en-IN" sz="4000" b="1" u="none" strike="noStrike">
              <a:solidFill>
                <a:srgbClr val="050505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2E152F-B240-4997-A4A8-0D7414289440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2026-04-04T19:30:01Z</dcterms:created>
  <dc:creator/>
  <dc:description>This work is licensed under a Creative Commons 0 License.
It makes use of the works of Alexander Wilms.</dc:description>
  <dc:language>en-IN</dc:language>
  <cp:lastModifiedBy/>
  <dcterms:modified xsi:type="dcterms:W3CDTF">2026-04-04T19:46:42Z</dcterms:modified>
  <cp:revision>2</cp:revision>
  <dc:subject/>
  <dc:title>DNA</dc:title>
</cp:coreProperties>
</file>